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B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411480"/>
            <a:ext cx="73152" cy="6035040"/>
          </a:xfrm>
          <a:prstGeom prst="rect">
            <a:avLst/>
          </a:prstGeom>
          <a:solidFill>
            <a:srgbClr val="D03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091672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999999"/>
                </a:solidFill>
                <a:latin typeface="Arial"/>
              </a:rPr>
              <a:t>1 /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999999"/>
                </a:solidFill>
                <a:latin typeface="Arial"/>
              </a:rPr>
              <a:t>原点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05840"/>
            <a:ext cx="10058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 i="0">
                <a:solidFill>
                  <a:srgbClr val="1A1A1A"/>
                </a:solidFill>
                <a:latin typeface="Arial"/>
              </a:rPr>
              <a:t>あの時、見えていた。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194560"/>
            <a:ext cx="96012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555555"/>
                </a:solidFill>
                <a:latin typeface="Arial"/>
              </a:rPr>
              <a:t>放送機器のIP化が進んだとき、わかっていたことがあった。
「専用ハードがコモディティ化する。日本メーカーの取り分が消える。」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3566160"/>
            <a:ext cx="4846320" cy="2468880"/>
          </a:xfrm>
          <a:prstGeom prst="rect">
            <a:avLst/>
          </a:prstGeom>
          <a:solidFill>
            <a:srgbClr val="F0F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36576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D03030"/>
                </a:solidFill>
                <a:latin typeface="Arial"/>
              </a:rPr>
              <a:t>見えていたこと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4160520"/>
            <a:ext cx="45720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A1A1A"/>
                </a:solidFill>
                <a:latin typeface="Arial"/>
              </a:rPr>
              <a:t>・プロトコルを押さえた企業が残る
・専用チップで変換を独占する
・ソフトウェアが主戦場になる</a:t>
            </a:r>
          </a:p>
        </p:txBody>
      </p:sp>
      <p:sp>
        <p:nvSpPr>
          <p:cNvPr id="10" name="Rectangle 9"/>
          <p:cNvSpPr/>
          <p:nvPr/>
        </p:nvSpPr>
        <p:spPr>
          <a:xfrm>
            <a:off x="5760720" y="3566160"/>
            <a:ext cx="4846320" cy="2468880"/>
          </a:xfrm>
          <a:prstGeom prst="rect">
            <a:avLst/>
          </a:prstGeom>
          <a:solidFill>
            <a:srgbClr val="F0F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897880" y="36576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999999"/>
                </a:solidFill>
                <a:latin typeface="Arial"/>
              </a:rPr>
              <a:t>できなかったこと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97880" y="4160520"/>
            <a:ext cx="45720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555555"/>
                </a:solidFill>
                <a:latin typeface="Arial"/>
              </a:rPr>
              <a:t>・予防線を張ること
・儲かる仕組みを作ること
・タイミングをつかむこと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62179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1">
                <a:solidFill>
                  <a:srgbClr val="D03030"/>
                </a:solidFill>
                <a:latin typeface="Arial"/>
              </a:rPr>
              <a:t>今度は違う動き方をする。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B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411480"/>
            <a:ext cx="73152" cy="6035040"/>
          </a:xfrm>
          <a:prstGeom prst="rect">
            <a:avLst/>
          </a:prstGeom>
          <a:solidFill>
            <a:srgbClr val="E07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091672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999999"/>
                </a:solidFill>
                <a:latin typeface="Arial"/>
              </a:rPr>
              <a:t>2 /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999999"/>
                </a:solidFill>
                <a:latin typeface="Arial"/>
              </a:rPr>
              <a:t>構造変化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05840"/>
            <a:ext cx="10058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 i="0">
                <a:solidFill>
                  <a:srgbClr val="1A1A1A"/>
                </a:solidFill>
                <a:latin typeface="Arial"/>
              </a:rPr>
              <a:t>黒船は来ている。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148840"/>
            <a:ext cx="9601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555555"/>
                </a:solidFill>
                <a:latin typeface="Arial"/>
              </a:rPr>
              <a:t>AIが「実装コスト」を汎用化する。
コードを書く、ドライバを作る、テストを回す——全部が安くなる。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3291840"/>
            <a:ext cx="10698480" cy="73152"/>
          </a:xfrm>
          <a:prstGeom prst="rect">
            <a:avLst/>
          </a:prstGeom>
          <a:solidFill>
            <a:srgbClr val="F0F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3474720"/>
            <a:ext cx="73152" cy="2743200"/>
          </a:xfrm>
          <a:prstGeom prst="rect">
            <a:avLst/>
          </a:prstGeom>
          <a:solidFill>
            <a:srgbClr val="E07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3520440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07020"/>
                </a:solidFill>
                <a:latin typeface="Arial"/>
              </a:rPr>
              <a:t>ドリームキャスト（1998）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069080"/>
            <a:ext cx="32918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55555"/>
                </a:solidFill>
                <a:latin typeface="Arial"/>
              </a:rPr>
              <a:t>オンライン・携帯連携・独自メモリ
すべて「正しいアイデア」だった
タイミングと体力が合わなかった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97680" y="3474720"/>
            <a:ext cx="73152" cy="2743200"/>
          </a:xfrm>
          <a:prstGeom prst="rect">
            <a:avLst/>
          </a:prstGeom>
          <a:solidFill>
            <a:srgbClr val="1A6A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80560" y="3520440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6AC8"/>
                </a:solidFill>
                <a:latin typeface="Arial"/>
              </a:rPr>
              <a:t>組み込み仮想化（2004〜）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60" y="4069080"/>
            <a:ext cx="32918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55555"/>
                </a:solidFill>
                <a:latin typeface="Arial"/>
              </a:rPr>
              <a:t>QEMUの時代から発想は完成していた
コスト＞メリットで誰もやらなかった
→ それが今、逆転しつつある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955279" y="3474720"/>
            <a:ext cx="73152" cy="27432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38159" y="3520440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A1A"/>
                </a:solidFill>
                <a:latin typeface="Arial"/>
              </a:rPr>
              <a:t>AI × 組み込み（今）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38159" y="4069080"/>
            <a:ext cx="32918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55555"/>
                </a:solidFill>
                <a:latin typeface="Arial"/>
              </a:rPr>
              <a:t>AIはクラウドにしか存在できない
仮想HW環境がなければAIは
ドライバを書いても確認できない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6446520"/>
            <a:ext cx="10058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999999"/>
                </a:solidFill>
                <a:latin typeface="Arial"/>
              </a:rPr>
              <a:t>正しいアイデアは、タイミングが来るまで待つしかない。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B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411480"/>
            <a:ext cx="73152" cy="6035040"/>
          </a:xfrm>
          <a:prstGeom prst="rect">
            <a:avLst/>
          </a:prstGeom>
          <a:solidFill>
            <a:srgbClr val="1A6A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091672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999999"/>
                </a:solidFill>
                <a:latin typeface="Arial"/>
              </a:rPr>
              <a:t>3 /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999999"/>
                </a:solidFill>
                <a:latin typeface="Arial"/>
              </a:rPr>
              <a:t>なぜ今か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05840"/>
            <a:ext cx="10058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 i="0">
                <a:solidFill>
                  <a:srgbClr val="1A1A1A"/>
                </a:solidFill>
                <a:latin typeface="Arial"/>
              </a:rPr>
              <a:t>今度こそ、タイミングが合った。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1031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555555"/>
                </a:solidFill>
                <a:latin typeface="Arial"/>
              </a:rPr>
              <a:t>2024〜25年、3つの変化が同時に起きた。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834640"/>
            <a:ext cx="3383280" cy="3474720"/>
          </a:xfrm>
          <a:prstGeom prst="rect">
            <a:avLst/>
          </a:prstGeom>
          <a:solidFill>
            <a:srgbClr val="F0F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2834640"/>
            <a:ext cx="3383280" cy="73152"/>
          </a:xfrm>
          <a:prstGeom prst="rect">
            <a:avLst/>
          </a:prstGeom>
          <a:solidFill>
            <a:srgbClr val="1A6A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301752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6AC8"/>
                </a:solidFill>
                <a:latin typeface="Arial"/>
              </a:rPr>
              <a:t>ISAの統一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520440"/>
            <a:ext cx="3017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Arial"/>
              </a:rPr>
              <a:t>EC2 GravitonもRaspberry Pi 5も
同じARM64になった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389120"/>
            <a:ext cx="30175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5555"/>
                </a:solidFill>
                <a:latin typeface="Arial"/>
              </a:rPr>
              <a:t>エミュレーション不要。
クロスコンパイルだけで
本番と同じバイナリが動く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5897880"/>
            <a:ext cx="3383280" cy="411480"/>
          </a:xfrm>
          <a:prstGeom prst="rect">
            <a:avLst/>
          </a:prstGeom>
          <a:solidFill>
            <a:srgbClr val="1A6A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5925312"/>
            <a:ext cx="3108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Arial"/>
              </a:rPr>
              <a:t>根本課題が解消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97680" y="2834640"/>
            <a:ext cx="3383280" cy="3474720"/>
          </a:xfrm>
          <a:prstGeom prst="rect">
            <a:avLst/>
          </a:prstGeom>
          <a:solidFill>
            <a:srgbClr val="F0F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97680" y="2834640"/>
            <a:ext cx="3383280" cy="73152"/>
          </a:xfrm>
          <a:prstGeom prst="rect">
            <a:avLst/>
          </a:prstGeom>
          <a:solidFill>
            <a:srgbClr val="1A9A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80560" y="301752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9A60"/>
                </a:solidFill>
                <a:latin typeface="Arial"/>
              </a:rPr>
              <a:t>Cloud IDEの無料化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80560" y="3520440"/>
            <a:ext cx="3017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Arial"/>
              </a:rPr>
              <a:t>GitHub Codespacesが
無料枠で使えるようになった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80560" y="4389120"/>
            <a:ext cx="30175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5555"/>
                </a:solidFill>
                <a:latin typeface="Arial"/>
              </a:rPr>
              <a:t>セットアップコストがゼロに。
誰でも即日、
組み込み開発を始められる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97680" y="5897880"/>
            <a:ext cx="3383280" cy="411480"/>
          </a:xfrm>
          <a:prstGeom prst="rect">
            <a:avLst/>
          </a:prstGeom>
          <a:solidFill>
            <a:srgbClr val="1A9A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434840" y="5925312"/>
            <a:ext cx="3108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Arial"/>
              </a:rPr>
              <a:t>参入障壁が消えた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955279" y="2834640"/>
            <a:ext cx="3383280" cy="3474720"/>
          </a:xfrm>
          <a:prstGeom prst="rect">
            <a:avLst/>
          </a:prstGeom>
          <a:solidFill>
            <a:srgbClr val="F0F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955279" y="2834640"/>
            <a:ext cx="3383280" cy="73152"/>
          </a:xfrm>
          <a:prstGeom prst="rect">
            <a:avLst/>
          </a:prstGeom>
          <a:solidFill>
            <a:srgbClr val="E07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138159" y="301752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E07020"/>
                </a:solidFill>
                <a:latin typeface="Arial"/>
              </a:rPr>
              <a:t>AIの登場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38159" y="3520440"/>
            <a:ext cx="3017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Arial"/>
              </a:rPr>
              <a:t>Claude CodeがクラウドでC/Cを書く。
でも実機には触れない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38159" y="4389120"/>
            <a:ext cx="30175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5555"/>
                </a:solidFill>
                <a:latin typeface="Arial"/>
              </a:rPr>
              <a:t>仮想HW環境がなければ
AIは組み込み開発に
参加できない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955279" y="5897880"/>
            <a:ext cx="3383280" cy="411480"/>
          </a:xfrm>
          <a:prstGeom prst="rect">
            <a:avLst/>
          </a:prstGeom>
          <a:solidFill>
            <a:srgbClr val="E07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92439" y="5925312"/>
            <a:ext cx="3108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Arial"/>
              </a:rPr>
              <a:t>需要側の変化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647395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999999"/>
                </a:solidFill>
                <a:latin typeface="Arial"/>
              </a:rPr>
              <a:t>ADSL → ネット普及。3G → スマホ普及。AI → 次の波。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B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411480"/>
            <a:ext cx="73152" cy="6035040"/>
          </a:xfrm>
          <a:prstGeom prst="rect">
            <a:avLst/>
          </a:prstGeom>
          <a:solidFill>
            <a:srgbClr val="1A9A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091672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999999"/>
                </a:solidFill>
                <a:latin typeface="Arial"/>
              </a:rPr>
              <a:t>4 /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999999"/>
                </a:solidFill>
                <a:latin typeface="Arial"/>
              </a:rPr>
              <a:t>実証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05840"/>
            <a:ext cx="10058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 i="0">
                <a:solidFill>
                  <a:srgbClr val="1A1A1A"/>
                </a:solidFill>
                <a:latin typeface="Arial"/>
              </a:rPr>
              <a:t>もう、動いている。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14884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555555"/>
                </a:solidFill>
                <a:latin typeface="Arial"/>
              </a:rPr>
              <a:t>ExperimentalDevEnv — 動くPoCがある。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834640"/>
            <a:ext cx="6217920" cy="3291840"/>
          </a:xfrm>
          <a:prstGeom prst="rect">
            <a:avLst/>
          </a:prstGeom>
          <a:solidFill>
            <a:srgbClr val="F0F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926080"/>
            <a:ext cx="5852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9A60"/>
                </a:solidFill>
                <a:latin typeface="Arial"/>
              </a:rPr>
              <a:t>できていること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429000"/>
            <a:ext cx="5852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  <a:latin typeface="Arial"/>
              </a:rPr>
              <a:t>✓  GitHub Codespacesでクロスコンパイル（環境構築ゼロ）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931920"/>
            <a:ext cx="5852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  <a:latin typeface="Arial"/>
              </a:rPr>
              <a:t>✓  GPIO / I2C / SPIをクラウド上で仮想化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434840"/>
            <a:ext cx="5852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  <a:latin typeface="Arial"/>
              </a:rPr>
              <a:t>✓  ブラウザでハードウェアをリアルタイム操作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4937760"/>
            <a:ext cx="5852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  <a:latin typeface="Arial"/>
              </a:rPr>
              <a:t>✓  同じバイナリをRaspberry Pi 5で動作確認済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5440680"/>
            <a:ext cx="5852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  <a:latin typeface="Arial"/>
              </a:rPr>
              <a:t>✓  コード変更ゼロで実機展開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223760" y="2834640"/>
            <a:ext cx="3931920" cy="1005840"/>
          </a:xfrm>
          <a:prstGeom prst="rect">
            <a:avLst/>
          </a:prstGeom>
          <a:solidFill>
            <a:srgbClr val="F0F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223760" y="2834640"/>
            <a:ext cx="73152" cy="1005840"/>
          </a:xfrm>
          <a:prstGeom prst="rect">
            <a:avLst/>
          </a:prstGeom>
          <a:solidFill>
            <a:srgbClr val="1A9A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52360" y="2907792"/>
            <a:ext cx="1371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A9A60"/>
                </a:solidFill>
                <a:latin typeface="Arial"/>
              </a:rPr>
              <a:t>0行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15400" y="3017520"/>
            <a:ext cx="2011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5555"/>
                </a:solidFill>
                <a:latin typeface="Arial"/>
              </a:rPr>
              <a:t>実機向け
コード変更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223760" y="3977639"/>
            <a:ext cx="3931920" cy="1005840"/>
          </a:xfrm>
          <a:prstGeom prst="rect">
            <a:avLst/>
          </a:prstGeom>
          <a:solidFill>
            <a:srgbClr val="F0F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223760" y="3977639"/>
            <a:ext cx="73152" cy="1005840"/>
          </a:xfrm>
          <a:prstGeom prst="rect">
            <a:avLst/>
          </a:prstGeom>
          <a:solidFill>
            <a:srgbClr val="1A6A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52360" y="4050791"/>
            <a:ext cx="1371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A6AC8"/>
                </a:solidFill>
                <a:latin typeface="Arial"/>
              </a:rPr>
              <a:t>3種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15400" y="4160519"/>
            <a:ext cx="2011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5555"/>
                </a:solidFill>
                <a:latin typeface="Arial"/>
              </a:rPr>
              <a:t>HW I/F
対応済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223760" y="5120640"/>
            <a:ext cx="3931920" cy="1005840"/>
          </a:xfrm>
          <a:prstGeom prst="rect">
            <a:avLst/>
          </a:prstGeom>
          <a:solidFill>
            <a:srgbClr val="F0F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223760" y="5120640"/>
            <a:ext cx="73152" cy="1005840"/>
          </a:xfrm>
          <a:prstGeom prst="rect">
            <a:avLst/>
          </a:prstGeom>
          <a:solidFill>
            <a:srgbClr val="E07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452360" y="5193792"/>
            <a:ext cx="1371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E07020"/>
                </a:solidFill>
                <a:latin typeface="Arial"/>
              </a:rPr>
              <a:t>$3/日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15400" y="5303520"/>
            <a:ext cx="2011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5555"/>
                </a:solidFill>
                <a:latin typeface="Arial"/>
              </a:rPr>
              <a:t>EC2稼働
コスト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6446520"/>
            <a:ext cx="10058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1">
                <a:solidFill>
                  <a:srgbClr val="1A9A60"/>
                </a:solidFill>
                <a:latin typeface="Arial"/>
              </a:rPr>
              <a:t>「作れる」の話ではなく、「作った」の話をしている。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B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411480"/>
            <a:ext cx="73152" cy="603504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091672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999999"/>
                </a:solidFill>
                <a:latin typeface="Arial"/>
              </a:rPr>
              <a:t>5 /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999999"/>
                </a:solidFill>
                <a:latin typeface="Arial"/>
              </a:rPr>
              <a:t>提案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05840"/>
            <a:ext cx="10058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1A1A1A"/>
                </a:solidFill>
                <a:latin typeface="Arial"/>
              </a:rPr>
              <a:t>SONYがここで動く意味。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2286000"/>
            <a:ext cx="10698480" cy="1280160"/>
          </a:xfrm>
          <a:prstGeom prst="rect">
            <a:avLst/>
          </a:prstGeom>
          <a:solidFill>
            <a:srgbClr val="F0F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423160"/>
            <a:ext cx="103327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A1A1A"/>
                </a:solidFill>
                <a:latin typeface="Arial"/>
              </a:rPr>
              <a:t>半導体・映像機器・ゲーム機・ロボティクス。
すべてが組み込みの塊で、すべてがこの環境のユースケースに直撃する。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3794760"/>
            <a:ext cx="3383280" cy="2423160"/>
          </a:xfrm>
          <a:prstGeom prst="rect">
            <a:avLst/>
          </a:prstGeom>
          <a:solidFill>
            <a:srgbClr val="F0F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3794760"/>
            <a:ext cx="3383280" cy="73152"/>
          </a:xfrm>
          <a:prstGeom prst="rect">
            <a:avLst/>
          </a:prstGeom>
          <a:solidFill>
            <a:srgbClr val="1A6A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397764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6AC8"/>
                </a:solidFill>
                <a:latin typeface="Arial"/>
              </a:rPr>
              <a:t>Step 1  社内で使う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572000"/>
            <a:ext cx="301752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55555"/>
                </a:solidFill>
                <a:latin typeface="Arial"/>
              </a:rPr>
              <a:t>まずこのチームで動かす
実績とデータを積む
リスクゼロ、コスト最小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13632" y="489204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999999"/>
                </a:solidFill>
                <a:latin typeface="Arial"/>
              </a:rPr>
              <a:t>→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97680" y="3794760"/>
            <a:ext cx="3383280" cy="2423160"/>
          </a:xfrm>
          <a:prstGeom prst="rect">
            <a:avLst/>
          </a:prstGeom>
          <a:solidFill>
            <a:srgbClr val="F0F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297680" y="3794760"/>
            <a:ext cx="3383280" cy="73152"/>
          </a:xfrm>
          <a:prstGeom prst="rect">
            <a:avLst/>
          </a:prstGeom>
          <a:solidFill>
            <a:srgbClr val="E07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80560" y="397764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07020"/>
                </a:solidFill>
                <a:latin typeface="Arial"/>
              </a:rPr>
              <a:t>Step 2  社内展開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80560" y="4572000"/>
            <a:ext cx="301752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55555"/>
                </a:solidFill>
                <a:latin typeface="Arial"/>
              </a:rPr>
              <a:t>他の開発チームへ広げる
「SONYで使われている」
が最大の証明になる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71232" y="489204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999999"/>
                </a:solidFill>
                <a:latin typeface="Arial"/>
              </a:rPr>
              <a:t>→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955279" y="3794760"/>
            <a:ext cx="3383280" cy="2423160"/>
          </a:xfrm>
          <a:prstGeom prst="rect">
            <a:avLst/>
          </a:prstGeom>
          <a:solidFill>
            <a:srgbClr val="F0F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955279" y="3794760"/>
            <a:ext cx="3383280" cy="73152"/>
          </a:xfrm>
          <a:prstGeom prst="rect">
            <a:avLst/>
          </a:prstGeom>
          <a:solidFill>
            <a:srgbClr val="1A9A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138159" y="397764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9A60"/>
                </a:solidFill>
                <a:latin typeface="Arial"/>
              </a:rPr>
              <a:t>Step 3  外へ出る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38159" y="4572000"/>
            <a:ext cx="301752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55555"/>
                </a:solidFill>
                <a:latin typeface="Arial"/>
              </a:rPr>
              <a:t>オープンコア＋コンサル
デファクトスタンダードへ
市場規模750億円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6446520"/>
            <a:ext cx="10058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1">
                <a:solidFill>
                  <a:srgbClr val="1A1A1A"/>
                </a:solidFill>
                <a:latin typeface="Arial"/>
              </a:rPr>
              <a:t>あの時見えていたことを、今度は形にする。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