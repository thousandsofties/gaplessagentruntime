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Arial"/>
              </a:rPr>
              <a:t>技術提案 ／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クラウドネイティブ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組み込み開発環境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A4C8"/>
                </a:solidFill>
                <a:latin typeface="Arial"/>
              </a:rPr>
              <a:t>ハードウェアなしで開発を始め、
同じバイナリを実機に展開する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ExperimentalDevEnv  |  2026.05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97280"/>
            <a:ext cx="5029200" cy="141732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097280"/>
            <a:ext cx="118872" cy="1417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2070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  <a:latin typeface="Arial"/>
              </a:rPr>
              <a:t>1 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C8"/>
                </a:solidFill>
                <a:latin typeface="Arial"/>
              </a:rPr>
              <a:t>GitHub Codespaces
クロスコンパイル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514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8FF"/>
                </a:solidFill>
                <a:latin typeface="Arial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834639"/>
            <a:ext cx="5029200" cy="141732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2834639"/>
            <a:ext cx="11887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94436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Arial"/>
              </a:rPr>
              <a:t>2  Simulate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38327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C8"/>
                </a:solidFill>
                <a:latin typeface="Arial"/>
              </a:rPr>
              <a:t>AWS EC2 Graviton
ブラウザで HW 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25195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8FF"/>
                </a:solidFill>
                <a:latin typeface="Arial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572000"/>
            <a:ext cx="5029200" cy="141732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4572000"/>
            <a:ext cx="118872" cy="14173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4681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9A"/>
                </a:solidFill>
                <a:latin typeface="Arial"/>
              </a:rPr>
              <a:t>3 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C8"/>
                </a:solidFill>
                <a:latin typeface="Arial"/>
              </a:rPr>
              <a:t>Raspberry Pi 5
同一バイナリで実機動作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AA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A4C8"/>
                </a:solidFill>
                <a:latin typeface="Arial"/>
              </a:rPr>
              <a:t>01  前提の整理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この発想は、20年以上前からある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C8"/>
                </a:solidFill>
                <a:latin typeface="Arial"/>
              </a:rPr>
              <a:t>QEMU・仮想化・エミュレーションはとっくに存在していた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06040" cy="41148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606040" cy="91440"/>
          </a:xfrm>
          <a:prstGeom prst="rect">
            <a:avLst/>
          </a:prstGeom>
          <a:solidFill>
            <a:srgbClr val="8AA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A4C8"/>
                </a:solidFill>
                <a:latin typeface="Arial"/>
              </a:rPr>
              <a:t>2004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QEMU 誕生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x86 エミュレーション。
あらゆる CPU をソフトウェアで模倣可能に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606040" cy="41148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606040" cy="91440"/>
          </a:xfrm>
          <a:prstGeom prst="rect">
            <a:avLst/>
          </a:prstGeom>
          <a:solidFill>
            <a:srgbClr val="8AA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A4C8"/>
                </a:solidFill>
                <a:latin typeface="Arial"/>
              </a:rPr>
              <a:t>2010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ARM Fast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089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ARM 公式の高速 CPU シミュレーター。
チップより先にファームを開発できる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2606040" cy="41148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011680"/>
            <a:ext cx="2606040" cy="91440"/>
          </a:xfrm>
          <a:prstGeom prst="rect">
            <a:avLst/>
          </a:prstGeom>
          <a:solidFill>
            <a:srgbClr val="8AA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A4C8"/>
                </a:solidFill>
                <a:latin typeface="Arial"/>
              </a:rPr>
              <a:t>2016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089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IoT 向けマルチノード HW シミュレーター。
ボードまるごと仮想化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606040" cy="41148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011680"/>
            <a:ext cx="26060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FF"/>
                </a:solidFill>
                <a:latin typeface="Arial"/>
              </a:rPr>
              <a:t>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本プロジェクト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1089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なぜ今なのか？
→ 次スライドで説明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3276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000"/>
                </a:solidFill>
                <a:latin typeface="Arial"/>
              </a:rPr>
              <a:t>「仮想HWでテストする」は目新しいアイデアではない。  では、なぜ誰もやらなかったのか？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60"/>
                </a:solidFill>
                <a:latin typeface="Arial"/>
              </a:rPr>
              <a:t>02  費用対効果の壁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コスト ＞ メリット  だったから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C8"/>
                </a:solidFill>
                <a:latin typeface="Arial"/>
              </a:rPr>
              <a:t>3つの「割に合わない」が普及を阻んでいた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474720" cy="43891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8872" cy="4389120"/>
          </a:xfrm>
          <a:prstGeom prst="rect">
            <a:avLst/>
          </a:prstGeom>
          <a:solidFill>
            <a:srgbClr val="FF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560"/>
                </a:solidFill>
                <a:latin typeface="Arial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4560"/>
                </a:solidFill>
                <a:latin typeface="Arial"/>
              </a:rPr>
              <a:t>ISA の不一致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4C8"/>
                </a:solidFill>
                <a:latin typeface="Arial"/>
              </a:rPr>
              <a:t>クラウドは x86
実機（RasPi等）は ARM
→ エミュレーションが必要
→ 動作が遅く信頼性も低い
→ 「本番と同じ」にならない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920240"/>
            <a:ext cx="3474720" cy="43891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920240"/>
            <a:ext cx="118872" cy="4389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  <a:latin typeface="Arial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Arial"/>
              </a:rPr>
              <a:t>セットアップの複雑さ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4C8"/>
                </a:solidFill>
                <a:latin typeface="Arial"/>
              </a:rPr>
              <a:t>QEMU のビルド・設定に
数日かかることも
→ 導入コストが高すぎる
→ 属人化・メンテ困難
→ 結局「実機でいいや」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920240"/>
            <a:ext cx="3474720" cy="43891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920240"/>
            <a:ext cx="118872" cy="43891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39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000"/>
                </a:solidFill>
                <a:latin typeface="Arial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000"/>
                </a:solidFill>
                <a:latin typeface="Arial"/>
              </a:rPr>
              <a:t>クラウドコストの問題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6974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4C8"/>
                </a:solidFill>
                <a:latin typeface="Arial"/>
              </a:rPr>
              <a:t>常時稼働のシミュレーター
をクラウドで動かすのは
コスト高だった
→ 開発機 1 台の方が安い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6480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A4C8"/>
                </a:solidFill>
                <a:latin typeface="Arial"/>
              </a:rPr>
              <a:t>→  だからこそ、業界はずっと「実機があればそれでいい」を続けてきた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9A"/>
                </a:solidFill>
                <a:latin typeface="Arial"/>
              </a:rPr>
              <a:t>03  転換点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2024〜2025年、3つの変化が同時に起きた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C8"/>
                </a:solidFill>
                <a:latin typeface="Arial"/>
              </a:rPr>
              <a:t>この3年で「コスト ＜ メリット」の逆転が起きている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20440" cy="45720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20440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Arial"/>
              </a:rPr>
              <a:t>✕ →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ISA の統一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A4C8"/>
                </a:solidFill>
                <a:latin typeface="Arial"/>
              </a:rPr>
              <a:t>EC2 Graviton（AWS）が ARM64
Raspberry Pi 5 も ARM64
→ 同じ ISA
エミュレーション不要。
クロスコンパイルだけで
本番と同じバイナリができる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172200"/>
            <a:ext cx="3520440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190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E1428"/>
                </a:solidFill>
                <a:latin typeface="Arial"/>
              </a:rPr>
              <a:t>QEMU 時代の根本課題が解消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3520440" cy="45720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828800"/>
            <a:ext cx="352044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Arial"/>
              </a:rPr>
              <a:t>✕ →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Cloud IDE の無料化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A4C8"/>
                </a:solidFill>
                <a:latin typeface="Arial"/>
              </a:rPr>
              <a:t>GitHub Codespaces が
無料枠で利用可能に
クロスコンパイル環境が
即時・無料で手に入る
→ セットアップコスト ≒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6172200"/>
            <a:ext cx="35204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6190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E1428"/>
                </a:solidFill>
                <a:latin typeface="Arial"/>
              </a:rPr>
              <a:t>「数日かかる環境構築」が消滅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828800"/>
            <a:ext cx="3520440" cy="45720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828800"/>
            <a:ext cx="3520440" cy="109728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9A"/>
                </a:solidFill>
                <a:latin typeface="Arial"/>
              </a:rPr>
              <a:t>✕ →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AI の登場（最大の変化）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A4C8"/>
                </a:solidFill>
                <a:latin typeface="Arial"/>
              </a:rPr>
              <a:t>Claude Code / Copilot が
クラウド上でコードを書く
AI は実機に触れない。
→ クラウド上に HW 環境がないと
   AI が開発できない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6172200"/>
            <a:ext cx="3520440" cy="457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39" y="6190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E1428"/>
                </a:solidFill>
                <a:latin typeface="Arial"/>
              </a:rPr>
              <a:t>「やりたい」から「やらないと」へ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9A"/>
                </a:solidFill>
                <a:latin typeface="Arial"/>
              </a:rPr>
              <a:t>★  この3つが揃ったのが今。本プロジェクトはそのタイミングを実証する PoC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Arial"/>
              </a:rPr>
              <a:t>04  ソリューション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ExperimentalDevEnv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C8"/>
                </a:solidFill>
                <a:latin typeface="Arial"/>
              </a:rPr>
              <a:t>ハードなし → クラウドで検証 → 実機展開。3ステップのパイプライン PoC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20440" cy="48463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8872" cy="4846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  <a:latin typeface="Arial"/>
              </a:rPr>
              <a:t>☁ 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4C8"/>
                </a:solidFill>
                <a:latin typeface="Arial"/>
              </a:rPr>
              <a:t>GitHub Codespaces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aarch64-linux-gnu-gcc で ARM64 バイナリをビルド
toolchain のセットアップはゼロ（devcontainer.json 1行）
VSCode タスクで one-click ビルド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3108960" cy="256032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185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Arial"/>
              </a:rPr>
              <a:t>コスト: 無料枠内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828800"/>
            <a:ext cx="3520440" cy="48463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828800"/>
            <a:ext cx="118872" cy="4846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Arial"/>
              </a:rPr>
              <a:t>⚡  Simulate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4C8"/>
                </a:solidFill>
                <a:latin typeface="Arial"/>
              </a:rPr>
              <a:t>AWS EC2 Graviton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346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LD_PRELOAD shim → GPIO / SPI をインターセプト
CUSE → /dev/i2c-1 仮想デバイスを生成
Python ブリッジ → ブラウザで HW をリアルタイム操作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6309360"/>
            <a:ext cx="3108960" cy="256032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63185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Arial"/>
              </a:rPr>
              <a:t>コスト: t4g.micro ≈ $2〜3/日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828800"/>
            <a:ext cx="3520440" cy="48463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828800"/>
            <a:ext cx="118872" cy="48463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9A"/>
                </a:solidFill>
                <a:latin typeface="Arial"/>
              </a:rPr>
              <a:t>🔧 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4C8"/>
                </a:solidFill>
                <a:latin typeface="Arial"/>
              </a:rPr>
              <a:t>Raspberry Pi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28346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scp で同一バイナリを転送するだけ
コード変更ゼロ・LD_PRELOAD 不要
GPIO / I2C / SPI が実デバイスで動作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59" y="6309360"/>
            <a:ext cx="3108960" cy="256032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63185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9A"/>
                </a:solidFill>
                <a:latin typeface="Arial"/>
              </a:rPr>
              <a:t>コスト: デバイス不要（検証は EC2 で完了）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Arial"/>
              </a:rPr>
              <a:t>05  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アプリは何も知らない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C8"/>
                </a:solidFill>
                <a:latin typeface="Arial"/>
              </a:rPr>
              <a:t>shim / CUSE が透過的にハードウェアを差し替える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011680"/>
            <a:ext cx="2743200" cy="128016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2011680"/>
            <a:ext cx="274320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48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アプリケーション
(sensor_demo.c)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828800"/>
            <a:ext cx="2743200" cy="11887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1828800"/>
            <a:ext cx="91440" cy="1188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Arial"/>
              </a:rPr>
              <a:t>GPIO Shim
gpio_shim.so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377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4C8"/>
                </a:solidFill>
                <a:latin typeface="Arial"/>
              </a:rPr>
              <a:t>LD_PRELOAD
/dev/gpiochip0 ioctl フック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8FF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474720"/>
            <a:ext cx="2743200" cy="11887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3474720"/>
            <a:ext cx="9144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20" y="3547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Arial"/>
              </a:rPr>
              <a:t>SPI Shim
spi_shim.so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023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4C8"/>
                </a:solidFill>
                <a:latin typeface="Arial"/>
              </a:rPr>
              <a:t>LD_PRELOAD
/dev/spidev0.0 ioctl フック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5120640"/>
            <a:ext cx="2743200" cy="11887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37360" y="5120640"/>
            <a:ext cx="91440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20" y="51937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Arial"/>
              </a:rPr>
              <a:t>I2C CUSE
cuse_i2c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5669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4C8"/>
                </a:solidFill>
                <a:latin typeface="Arial"/>
              </a:rPr>
              <a:t>FUSE3 で /dev/i2c-1
仮想デバイス生成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532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6B35"/>
                </a:solidFill>
                <a:latin typeface="Ar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828800"/>
            <a:ext cx="2743200" cy="11887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1828800"/>
            <a:ext cx="91440" cy="11887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9A"/>
                </a:solidFill>
                <a:latin typeface="Arial"/>
              </a:rPr>
              <a:t>Web Bridge
bridge.py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377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4C8"/>
                </a:solidFill>
                <a:latin typeface="Arial"/>
              </a:rPr>
              <a:t>Python asyncio
Unix socket ↔ WebSocket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474720"/>
            <a:ext cx="2743200" cy="11887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0" y="3474720"/>
            <a:ext cx="91440" cy="1188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547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Arial"/>
              </a:rPr>
              <a:t>ブラウザ HW パネル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023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4C8"/>
                </a:solidFill>
                <a:latin typeface="Arial"/>
              </a:rPr>
              <a:t>LED / Button / OLED
をブラウザで操作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3317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9A"/>
                </a:solidFill>
                <a:latin typeface="Arial"/>
              </a:rPr>
              <a:t>←→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D49A"/>
                </a:solidFill>
                <a:latin typeface="Arial"/>
              </a:rPr>
              <a:t>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5760720"/>
            <a:ext cx="5486400" cy="86868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0" y="5760720"/>
            <a:ext cx="5486400" cy="9144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58978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9A"/>
                </a:solidFill>
                <a:latin typeface="Arial"/>
              </a:rPr>
              <a:t>Raspberry Pi 5  —  同一バイナリ、shim なし、実デバイスで動作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9A"/>
                </a:solidFill>
                <a:latin typeface="Arial"/>
              </a:rPr>
              <a:t>↓  scp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9A"/>
                </a:solidFill>
                <a:latin typeface="Arial"/>
              </a:rPr>
              <a:t>06  実証結果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動いた。コード変更ゼロで実機に展開できた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C8"/>
                </a:solidFill>
                <a:latin typeface="Arial"/>
              </a:rPr>
              <a:t>PoC として想定した全シナリオの検証が完了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84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Arial"/>
              </a:rPr>
              <a:t>コンポーネント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984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Arial"/>
              </a:rPr>
              <a:t>EC2 シミュレーション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9842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Arial"/>
              </a:rPr>
              <a:t>RasPi5 実機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Arial"/>
              </a:rPr>
              <a:t>状態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GPIO  LED + ボタン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877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✅ シム動作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877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✅ 実機動作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587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完了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36391"/>
            <a:ext cx="11247120" cy="68580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00983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I2C   VL53L0X センサー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300983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✅ レジスタ模倣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30098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✅ 実デバイス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300983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完了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9624"/>
            <a:ext cx="11247120" cy="6858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142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SPI   MFRC-522 RFID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01421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✅ レジスタ模倣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0142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✅ カード読取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40142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完了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62856"/>
            <a:ext cx="11247120" cy="68580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7274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I2C   SSD1306 OLED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7274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✅ Canvas 表示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727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D000"/>
                </a:solidFill>
                <a:latin typeface="Arial"/>
              </a:rPr>
              <a:t>⏳ モジュール待ち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D000"/>
                </a:solidFill>
                <a:latin typeface="Arial"/>
              </a:rPr>
              <a:t>進行中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76088"/>
            <a:ext cx="11247120" cy="6858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40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WebSocket HW パネル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440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✅ リアルタイム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440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5440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D49A"/>
                </a:solidFill>
                <a:latin typeface="Arial"/>
              </a:rPr>
              <a:t>完了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126480"/>
            <a:ext cx="3520440" cy="621792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6126480"/>
            <a:ext cx="91440" cy="6217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61722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  <a:latin typeface="Arial"/>
              </a:rPr>
              <a:t>3 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217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4C8"/>
                </a:solidFill>
                <a:latin typeface="Arial"/>
              </a:rPr>
              <a:t>HW インターフェース
(GPIO / I2C / SPI)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126480"/>
            <a:ext cx="3520440" cy="621792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6126480"/>
            <a:ext cx="91440" cy="621792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61722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9A"/>
                </a:solidFill>
                <a:latin typeface="Arial"/>
              </a:rPr>
              <a:t>0 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6217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4C8"/>
                </a:solidFill>
                <a:latin typeface="Arial"/>
              </a:rPr>
              <a:t>実機向けコード変更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6126480"/>
            <a:ext cx="3520440" cy="621792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55279" y="6126480"/>
            <a:ext cx="91440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61722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Arial"/>
              </a:rPr>
              <a:t>≈ $3/日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19" y="6217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4C8"/>
                </a:solidFill>
                <a:latin typeface="Arial"/>
              </a:rPr>
              <a:t>EC2 シミュ稼働コスト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000"/>
                </a:solidFill>
                <a:latin typeface="Arial"/>
              </a:rPr>
              <a:t>07  なぜ今これが重要か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AI が組み込み開発に入ってきた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C8"/>
                </a:solidFill>
                <a:latin typeface="Arial"/>
              </a:rPr>
              <a:t>AI はクラウドにしか存在できない → クラウド上の HW 環境が必須になる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37160" cy="14630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Arial"/>
              </a:rPr>
              <a:t>Claude Code は今まさにこのプロジェクトのコードを書いている。
だが Claude は実機の GPIO に触れない。
→  仮想 HW 環境がなければ、AI はドライバを書いても動作確認できない。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2651760" cy="30175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265176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Arial"/>
              </a:rPr>
              <a:t>ドライバ自動生成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A4C8"/>
                </a:solidFill>
                <a:latin typeface="Arial"/>
              </a:rPr>
              <a:t>AI が I2C / SPI ドライバを生成
→ CUSE スタブで即テスト
実機なしで動作確認完結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520440"/>
            <a:ext cx="2651760" cy="30175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3520440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Arial"/>
              </a:rPr>
              <a:t>自動テスト生成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25196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A4C8"/>
                </a:solidFill>
                <a:latin typeface="Arial"/>
              </a:rPr>
              <a:t>センサー値を自動注入して
境界値・異常値テスト
CI/CD に組み込み可能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520440"/>
            <a:ext cx="2651760" cy="30175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520440"/>
            <a:ext cx="2651760" cy="9144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9A"/>
                </a:solidFill>
                <a:latin typeface="Arial"/>
              </a:rPr>
              <a:t>トレース解析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A4C8"/>
                </a:solidFill>
                <a:latin typeface="Arial"/>
              </a:rPr>
              <a:t>HW トレースログを AI に渡し
バグ原因を自動推定
デバッグ工数を大幅削減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3520440"/>
            <a:ext cx="2651760" cy="301752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3520440"/>
            <a:ext cx="265176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Arial"/>
              </a:rPr>
              <a:t>コードレビュー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25196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A4C8"/>
                </a:solidFill>
                <a:latin typeface="Arial"/>
              </a:rPr>
              <a:t>PR 時にドライバを AI がレビュー
タイミング・メモリ安全性を検査
HW 起因のバグを事前防止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  <a:latin typeface="Arial"/>
              </a:rPr>
              <a:t>→  「AI 対応」は後付けの機能ではなく、本アーキテクチャの設計思想そのもの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Arial"/>
              </a:rPr>
              <a:t>08  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PoC から製品へ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C8"/>
                </a:solidFill>
                <a:latin typeface="Arial"/>
              </a:rPr>
              <a:t>実証済みのコアを基盤に段階的に拡張する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51760" cy="466344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8872" cy="466344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9A"/>
                </a:solidFill>
                <a:latin typeface="Arial"/>
              </a:rPr>
              <a:t>今 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Phase 1 — PoC 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27432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GPIO / I2C / SPI シム確立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EC2 Graviton + ブラウザ HW パネル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RasPi5 実機デプロイ検証済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2651760" cy="466344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828800"/>
            <a:ext cx="118872" cy="4663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938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Arial"/>
              </a:rPr>
              <a:t>次  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31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Phase 2 — 機能拡張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11247120" cy="27432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OLED シム / LCD HAT シム追加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GitHub Actions CI/CD 統合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166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複数ボードへの対応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28800"/>
            <a:ext cx="2651760" cy="466344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828800"/>
            <a:ext cx="118872" cy="4663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938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Arial"/>
              </a:rPr>
              <a:t>近  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331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Phase 3 — AI 統合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26080"/>
            <a:ext cx="11247120" cy="27432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Claude Code 自動生成フロー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AI テストシナリオ生成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66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HW トレース自動解析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828800"/>
            <a:ext cx="2651760" cy="466344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1828800"/>
            <a:ext cx="118872" cy="4663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1938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00"/>
                </a:solidFill>
                <a:latin typeface="Arial"/>
              </a:rPr>
              <a:t>将来  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Phase 4 — SaaS 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926080"/>
            <a:ext cx="11247120" cy="27432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仮想 HW 環境プラットフォーム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企業向け組み込み CI/CD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166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4C8"/>
                </a:solidFill>
                <a:latin typeface="Arial"/>
              </a:rPr>
              <a:t>•  Edge AI 開発の標準環境へ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583680"/>
            <a:ext cx="11247120" cy="9144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583680"/>
            <a:ext cx="2651760" cy="9144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1840" y="6583680"/>
            <a:ext cx="265176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6583680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6583680"/>
            <a:ext cx="265176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Arial"/>
              </a:rPr>
              <a:t>09  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費用対効果が、ついて逆転した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AA4C8"/>
                </a:solidFill>
                <a:latin typeface="Arial"/>
              </a:rPr>
              <a:t>ISA 統一・Cloud IDE 無料化・AI の台頭。3つが揃い「仮想HW開発環境」は今こそやるべき投資になった。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2651760" cy="256032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265176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  <a:latin typeface="Arial"/>
              </a:rPr>
              <a:t>開発速度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4C8"/>
                </a:solidFill>
                <a:latin typeface="Arial"/>
              </a:rPr>
              <a:t>ハード依存ゼロ
即日スタート可能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017520"/>
            <a:ext cx="2651760" cy="256032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3017520"/>
            <a:ext cx="2651760" cy="9144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9A"/>
                </a:solidFill>
                <a:latin typeface="Arial"/>
              </a:rPr>
              <a:t>品質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794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4C8"/>
                </a:solidFill>
                <a:latin typeface="Arial"/>
              </a:rPr>
              <a:t>CI/CD で自動テスト
実機と同等の検証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017520"/>
            <a:ext cx="2651760" cy="256032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017520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Arial"/>
              </a:rPr>
              <a:t>コスト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794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4C8"/>
                </a:solidFill>
                <a:latin typeface="Arial"/>
              </a:rPr>
              <a:t>テスト機材費ゼロ
≈ $3/日で代替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017520"/>
            <a:ext cx="2651760" cy="2560320"/>
          </a:xfrm>
          <a:prstGeom prst="rect">
            <a:avLst/>
          </a:prstGeom>
          <a:solidFill>
            <a:srgbClr val="0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3017520"/>
            <a:ext cx="265176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000"/>
                </a:solidFill>
                <a:latin typeface="Arial"/>
              </a:rPr>
              <a:t>AI 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794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4C8"/>
                </a:solidFill>
                <a:latin typeface="Arial"/>
              </a:rPr>
              <a:t>Claude Code と
シームレスに統合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897880"/>
            <a:ext cx="9418320" cy="713232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5897880"/>
            <a:ext cx="118872" cy="7132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9893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本 PoC をベースに、組み込み開発の新しいスタンダードを共に構築しましょう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4C8"/>
                </a:solidFill>
                <a:latin typeface="Arial"/>
              </a:rPr>
              <a:t>ExperimentalDevEnv  ／  github.com/thousandsofties/experimentaldevenv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